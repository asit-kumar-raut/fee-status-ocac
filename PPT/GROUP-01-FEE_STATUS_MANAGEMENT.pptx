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60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1B1253-1BD8-44B9-B45A-E84D82C21512}" v="1" dt="2026-06-27T14:23:38.8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DC94C5-2D48-40BF-8B3C-8AF773140F9A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D95CB3-60DC-4CC9-BBF4-C79510A3E9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2775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D95CB3-60DC-4CC9-BBF4-C79510A3E9D9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67519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F1505-02C9-B85E-B5CC-C515A1885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918B9D-1159-BDFF-F9F4-060462BFE6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F2479F-F144-4AE9-C790-A3965E24C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BCBBE-663B-4A63-8DF5-1CFAEC66BC91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65D40C-92EE-C886-88C1-8263CBC33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8F5D1E-8BEB-DC15-E685-EF11A497A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25946-B0CA-463F-934D-5E39290C00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5223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00F01-A745-079D-B168-06B815E7F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CEEAC-58F6-CE73-B6D1-E203D36C19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1EA96B-B6F0-E56D-1F34-62E49D8EC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BCBBE-663B-4A63-8DF5-1CFAEC66BC91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EA3C7-906A-CF34-2BD5-BE631F3F2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8EC949-4DC9-CA52-C53C-4EE64EE8C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25946-B0CA-463F-934D-5E39290C00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2741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2563C-54F2-BC86-8D87-E14C668BE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5DC39F-DF88-A45E-0538-7E9916BA88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989F86-ABFE-7DF7-8BB4-978B38058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BCBBE-663B-4A63-8DF5-1CFAEC66BC91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07FF2-4336-0C7C-2562-F11339F83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199A00-42F9-54E8-58A1-BD1CC77DA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25946-B0CA-463F-934D-5E39290C00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3731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1441B-236C-F9E1-3E64-102DD5FB2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DA185-F6F8-DBF1-AAF2-6D40B4AE73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981782-367E-1236-5D05-ECAD885520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25C6D6-500C-3319-40A0-4EE17B917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BCBBE-663B-4A63-8DF5-1CFAEC66BC91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5BCA59-1EE1-2186-517B-F8C5BE960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8C2EA3-05D8-37B2-B77F-1F1438C78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25946-B0CA-463F-934D-5E39290C00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8468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4E74F-C708-F757-4224-010618B06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E715E9-69EE-D8F6-FBC8-A634BE59B5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77446D-F999-B1AB-A915-794D1FBAFE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9A32E2-206C-45FB-92F9-E3D36E576D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FB1D03-7F09-CA47-CA14-19AE5091A2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5F5514-9454-1C6C-1F1A-9F1C4DD25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BCBBE-663B-4A63-8DF5-1CFAEC66BC91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FC9F5F-9557-C126-3B6E-CCCF0F94E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8D5C08-BFE2-0107-6D52-833CE8513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25946-B0CA-463F-934D-5E39290C00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0481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F1C1F-55C8-83BD-D9CA-EA02CC8F0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9882A8-38EE-241A-C412-BC1AB01AE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BCBBE-663B-4A63-8DF5-1CFAEC66BC91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03E958-4042-5C7A-CE40-F5D184C08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ADF815-013F-EB84-C72F-3EBB460C7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25946-B0CA-463F-934D-5E39290C00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4267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02721C-F5D5-EEEE-3963-F82A69195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BCBBE-663B-4A63-8DF5-1CFAEC66BC91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D3A230-0B5A-C97F-2D6A-7C1C22BA3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556041-6F23-9D5A-E9ED-610A1EB8E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25946-B0CA-463F-934D-5E39290C00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0640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553B9-DA5A-F72B-C873-8E272206C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B3DA4D-5CCD-3593-DC3E-7A6CD44A2B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6417ED-58A7-74D2-A13E-53F5706D6D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4970D9-641B-256F-D831-5AEECAF35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BCBBE-663B-4A63-8DF5-1CFAEC66BC91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FB7AB0-FFFD-B0C1-446D-16C595EF4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829B40-E83F-828B-719A-6EC291A50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25946-B0CA-463F-934D-5E39290C00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1654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EFD86-492A-14A9-A051-E27851650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A6B274-5C5F-B95F-48E1-43A26E42E1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42935D-02A8-A9C2-A450-E57FF16E92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DD28A4-F6B1-A575-5D52-9F186DCAF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BCBBE-663B-4A63-8DF5-1CFAEC66BC91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9AF480-5500-B2E9-857E-B9622E8B4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63AE39-91AD-1643-4009-62854E708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25946-B0CA-463F-934D-5E39290C00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6652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26681-5648-48FB-5877-A71F68EB9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82BED8-1CE1-A18E-CE73-91DF32F7A7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4EF30C-B9E8-FC03-1B39-702EE8434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BCBBE-663B-4A63-8DF5-1CFAEC66BC91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E8A639-43D6-9A00-0A65-C07633C01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358A01-088F-42C4-FCC2-157879867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25946-B0CA-463F-934D-5E39290C00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295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F6BCFF-9F17-5894-C1B6-EEB7D63FC9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E08FAA-DBC0-1D56-F110-AC76762D22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C4D3DD-C059-C8EB-7D27-D485BF984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BCBBE-663B-4A63-8DF5-1CFAEC66BC91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117D7F-706D-28C6-3B49-73F49B9D0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A86C22-64E6-C724-742C-ADA326E6A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25946-B0CA-463F-934D-5E39290C00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5826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8A4358-F21A-085B-AA68-85C081635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33CCD5-2776-6CAA-4BD7-15B658394B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06A2FF-3B00-2CF8-4943-9EFDABF282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0BCBBE-663B-4A63-8DF5-1CFAEC66BC91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22510B-B82E-9DCF-0380-082B82BDAE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9896E2-AE0B-09EC-0BCF-F6E917D7F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025946-B0CA-463F-934D-5E39290C00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6607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46867BB-0393-EE40-63C8-5CF107D8DA68}"/>
              </a:ext>
            </a:extLst>
          </p:cNvPr>
          <p:cNvSpPr txBox="1"/>
          <p:nvPr/>
        </p:nvSpPr>
        <p:spPr>
          <a:xfrm>
            <a:off x="3421625" y="471949"/>
            <a:ext cx="40508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The Team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Deatails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881441-1DDA-530C-8C01-43D07131E531}"/>
              </a:ext>
            </a:extLst>
          </p:cNvPr>
          <p:cNvSpPr txBox="1"/>
          <p:nvPr/>
        </p:nvSpPr>
        <p:spPr>
          <a:xfrm>
            <a:off x="540774" y="2199377"/>
            <a:ext cx="40508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Project</a:t>
            </a:r>
            <a:r>
              <a:rPr lang="en-US" dirty="0"/>
              <a:t> </a:t>
            </a:r>
            <a:r>
              <a:rPr lang="en-US" sz="2400" dirty="0"/>
              <a:t>: </a:t>
            </a:r>
            <a:r>
              <a:rPr lang="en-US" sz="24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" panose="020B0502040204020203" pitchFamily="34" charset="0"/>
              </a:rPr>
              <a:t>Fee Status Manager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DA4842-5A64-9952-6537-31320C6B5B02}"/>
              </a:ext>
            </a:extLst>
          </p:cNvPr>
          <p:cNvSpPr txBox="1"/>
          <p:nvPr/>
        </p:nvSpPr>
        <p:spPr>
          <a:xfrm>
            <a:off x="6469626" y="2337066"/>
            <a:ext cx="22614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</a:rPr>
              <a:t>Group - 1</a:t>
            </a:r>
            <a:endParaRPr lang="en-IN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7C2A21-28DD-FFD0-6874-22F918898739}"/>
              </a:ext>
            </a:extLst>
          </p:cNvPr>
          <p:cNvSpPr txBox="1"/>
          <p:nvPr/>
        </p:nvSpPr>
        <p:spPr>
          <a:xfrm>
            <a:off x="6469626" y="3051842"/>
            <a:ext cx="40508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sz="2000" dirty="0"/>
              <a:t>Mentor : </a:t>
            </a:r>
            <a:r>
              <a:rPr lang="en-IN" sz="2000" dirty="0" err="1">
                <a:solidFill>
                  <a:schemeClr val="accent3">
                    <a:lumMod val="75000"/>
                  </a:schemeClr>
                </a:solidFill>
              </a:rPr>
              <a:t>Benumadhaba</a:t>
            </a:r>
            <a:r>
              <a:rPr lang="en-IN" sz="2000" dirty="0">
                <a:solidFill>
                  <a:schemeClr val="accent3">
                    <a:lumMod val="75000"/>
                  </a:schemeClr>
                </a:solidFill>
              </a:rPr>
              <a:t> Rath</a:t>
            </a:r>
            <a:endParaRPr lang="en-IN" sz="2000" dirty="0">
              <a:solidFill>
                <a:schemeClr val="accent3">
                  <a:lumMod val="7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CA1AED-777B-3E8F-02B0-9F9F0CD7F68A}"/>
              </a:ext>
            </a:extLst>
          </p:cNvPr>
          <p:cNvSpPr txBox="1"/>
          <p:nvPr/>
        </p:nvSpPr>
        <p:spPr>
          <a:xfrm>
            <a:off x="6096000" y="3982064"/>
            <a:ext cx="5122607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Team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eader Name </a:t>
            </a:r>
            <a:r>
              <a:rPr lang="en-US" dirty="0"/>
              <a:t>: </a:t>
            </a:r>
            <a:r>
              <a:rPr lang="en-US" sz="2000" dirty="0">
                <a:solidFill>
                  <a:srgbClr val="C00000"/>
                </a:solidFill>
              </a:rPr>
              <a:t>Asit Kumar Raut</a:t>
            </a:r>
          </a:p>
          <a:p>
            <a:endParaRPr lang="en-US" sz="2000" dirty="0">
              <a:solidFill>
                <a:srgbClr val="C00000"/>
              </a:solidFill>
            </a:endParaRP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Team Member 1: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Akash Kumar Swain</a:t>
            </a:r>
          </a:p>
          <a:p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Team Member 2 :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Aditya Kumar Sahoo</a:t>
            </a:r>
          </a:p>
          <a:p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Team Member 3 :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Bishwa Prakash Rout</a:t>
            </a:r>
          </a:p>
          <a:p>
            <a:endParaRPr lang="en-US" sz="2000" dirty="0">
              <a:solidFill>
                <a:srgbClr val="C00000"/>
              </a:solidFill>
            </a:endParaRPr>
          </a:p>
        </p:txBody>
      </p:sp>
      <p:pic>
        <p:nvPicPr>
          <p:cNvPr id="2" name="Picture 1" descr="OCAC Recruitment 2020 Apply Online Job Vacancies 21 December 2020">
            <a:extLst>
              <a:ext uri="{FF2B5EF4-FFF2-40B4-BE49-F238E27FC236}">
                <a16:creationId xmlns:a16="http://schemas.microsoft.com/office/drawing/2014/main" id="{86B3B405-3565-A777-A4BC-1AF1257BE3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195" y="230381"/>
            <a:ext cx="865350" cy="865350"/>
          </a:xfrm>
          <a:prstGeom prst="rect">
            <a:avLst/>
          </a:prstGeom>
        </p:spPr>
      </p:pic>
      <p:pic>
        <p:nvPicPr>
          <p:cNvPr id="3" name="Picture 2" descr="OCAC Training Centre">
            <a:extLst>
              <a:ext uri="{FF2B5EF4-FFF2-40B4-BE49-F238E27FC236}">
                <a16:creationId xmlns:a16="http://schemas.microsoft.com/office/drawing/2014/main" id="{BFE165DD-5B6A-6427-40A2-E0ABB802F3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017" b="32356"/>
          <a:stretch>
            <a:fillRect/>
          </a:stretch>
        </p:blipFill>
        <p:spPr>
          <a:xfrm>
            <a:off x="167269" y="1035897"/>
            <a:ext cx="1323203" cy="417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742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B6C4482-D750-BBEE-DAF7-BBE93F60F594}"/>
              </a:ext>
            </a:extLst>
          </p:cNvPr>
          <p:cNvSpPr txBox="1"/>
          <p:nvPr/>
        </p:nvSpPr>
        <p:spPr>
          <a:xfrm>
            <a:off x="2471166" y="1330095"/>
            <a:ext cx="782497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b="1" i="0" dirty="0">
                <a:effectLst/>
                <a:latin typeface="ui-sans-serif"/>
              </a:rPr>
              <a:t>ABSTRACT:</a:t>
            </a:r>
            <a:endParaRPr lang="en-IN" b="0" i="0" dirty="0">
              <a:effectLst/>
              <a:latin typeface="ui-sans-serif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ui-sans-serif"/>
              </a:rPr>
              <a:t>The Core Objective</a:t>
            </a:r>
            <a:r>
              <a:rPr lang="en-IN" b="0" i="0" dirty="0">
                <a:effectLst/>
                <a:latin typeface="ui-sans-serif"/>
              </a:rPr>
              <a:t>: A secure, automated desktop application designed to streamline student fee collection, tracking, and receipt generation, replacing manual, error-prone paperwork.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ui-sans-serif"/>
              </a:rPr>
              <a:t>Technical Foundation</a:t>
            </a:r>
            <a:r>
              <a:rPr lang="en-IN" b="0" i="0" dirty="0">
                <a:effectLst/>
                <a:latin typeface="ui-sans-serif"/>
              </a:rPr>
              <a:t>: Developed using </a:t>
            </a:r>
            <a:r>
              <a:rPr lang="en-IN" b="1" i="0" dirty="0">
                <a:effectLst/>
                <a:latin typeface="ui-sans-serif"/>
              </a:rPr>
              <a:t>Python (</a:t>
            </a:r>
            <a:r>
              <a:rPr lang="en-IN" b="1" i="0" dirty="0" err="1">
                <a:effectLst/>
                <a:latin typeface="ui-sans-serif"/>
              </a:rPr>
              <a:t>Tkinter</a:t>
            </a:r>
            <a:r>
              <a:rPr lang="en-IN" b="1" i="0" dirty="0">
                <a:effectLst/>
                <a:latin typeface="ui-sans-serif"/>
              </a:rPr>
              <a:t>)</a:t>
            </a:r>
            <a:r>
              <a:rPr lang="en-IN" b="0" i="0" dirty="0">
                <a:effectLst/>
                <a:latin typeface="ui-sans-serif"/>
              </a:rPr>
              <a:t> for a modern, responsive user interface and </a:t>
            </a:r>
            <a:r>
              <a:rPr lang="en-IN" b="1" i="0" dirty="0">
                <a:effectLst/>
                <a:latin typeface="ui-sans-serif"/>
              </a:rPr>
              <a:t>MySQL</a:t>
            </a:r>
            <a:r>
              <a:rPr lang="en-IN" b="0" i="0" dirty="0">
                <a:effectLst/>
                <a:latin typeface="ui-sans-serif"/>
              </a:rPr>
              <a:t> for a secure, relational database backend.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ui-sans-serif"/>
              </a:rPr>
              <a:t>Role-Based Access</a:t>
            </a:r>
            <a:r>
              <a:rPr lang="en-IN" b="0" i="0" dirty="0">
                <a:effectLst/>
                <a:latin typeface="ui-sans-serif"/>
              </a:rPr>
              <a:t>: Features a secure three-tier login system: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ui-sans-serif"/>
              </a:rPr>
              <a:t>Admin</a:t>
            </a:r>
            <a:r>
              <a:rPr lang="en-IN" b="0" i="0" dirty="0">
                <a:effectLst/>
                <a:latin typeface="ui-sans-serif"/>
              </a:rPr>
              <a:t>: For system approvals, fee controls, and feedback monitoring.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b="1" i="0" dirty="0" err="1">
                <a:effectLst/>
                <a:latin typeface="ui-sans-serif"/>
              </a:rPr>
              <a:t>Counselor</a:t>
            </a:r>
            <a:r>
              <a:rPr lang="en-IN" b="0" i="0" dirty="0">
                <a:effectLst/>
                <a:latin typeface="ui-sans-serif"/>
              </a:rPr>
              <a:t>: For searching students, entering payments (Online/Offline), and tracking collections.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ui-sans-serif"/>
              </a:rPr>
              <a:t>Student</a:t>
            </a:r>
            <a:r>
              <a:rPr lang="en-IN" b="0" i="0" dirty="0">
                <a:effectLst/>
                <a:latin typeface="ui-sans-serif"/>
              </a:rPr>
              <a:t>: For viewing fee summaries, checking payment history, and generating receipts.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ui-sans-serif"/>
              </a:rPr>
              <a:t>Key Innovation: </a:t>
            </a:r>
            <a:r>
              <a:rPr lang="en-IN" b="0" i="0" dirty="0">
                <a:effectLst/>
                <a:latin typeface="ui-sans-serif"/>
              </a:rPr>
              <a:t>Incorporates real-time financial tracking, UTR transaction verification for online payments, and automated ledger balance calculations.</a:t>
            </a:r>
          </a:p>
        </p:txBody>
      </p:sp>
      <p:pic>
        <p:nvPicPr>
          <p:cNvPr id="5" name="Picture 4" descr="OCAC Recruitment 2020 Apply Online Job Vacancies 21 December 2020">
            <a:extLst>
              <a:ext uri="{FF2B5EF4-FFF2-40B4-BE49-F238E27FC236}">
                <a16:creationId xmlns:a16="http://schemas.microsoft.com/office/drawing/2014/main" id="{E21947E0-F51F-1970-4FEA-1A82EBB1B1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195" y="230381"/>
            <a:ext cx="865350" cy="865350"/>
          </a:xfrm>
          <a:prstGeom prst="rect">
            <a:avLst/>
          </a:prstGeom>
        </p:spPr>
      </p:pic>
      <p:pic>
        <p:nvPicPr>
          <p:cNvPr id="6" name="Picture 5" descr="OCAC Training Centre">
            <a:extLst>
              <a:ext uri="{FF2B5EF4-FFF2-40B4-BE49-F238E27FC236}">
                <a16:creationId xmlns:a16="http://schemas.microsoft.com/office/drawing/2014/main" id="{3B89EFE5-D07F-3437-44E4-BD06D376B3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017" b="32356"/>
          <a:stretch>
            <a:fillRect/>
          </a:stretch>
        </p:blipFill>
        <p:spPr>
          <a:xfrm>
            <a:off x="167269" y="1035897"/>
            <a:ext cx="1323203" cy="4177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441196-EBDE-F609-4375-6763DD0C5049}"/>
              </a:ext>
            </a:extLst>
          </p:cNvPr>
          <p:cNvSpPr txBox="1"/>
          <p:nvPr/>
        </p:nvSpPr>
        <p:spPr>
          <a:xfrm>
            <a:off x="2010695" y="663056"/>
            <a:ext cx="3982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Overview</a:t>
            </a:r>
            <a:endParaRPr lang="en-IN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31351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OCAC Recruitment 2020 Apply Online Job Vacancies 21 December 2020">
            <a:extLst>
              <a:ext uri="{FF2B5EF4-FFF2-40B4-BE49-F238E27FC236}">
                <a16:creationId xmlns:a16="http://schemas.microsoft.com/office/drawing/2014/main" id="{2BE9008C-4F65-E006-F6DC-DDA96CB2D9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195" y="230381"/>
            <a:ext cx="865350" cy="865350"/>
          </a:xfrm>
          <a:prstGeom prst="rect">
            <a:avLst/>
          </a:prstGeom>
        </p:spPr>
      </p:pic>
      <p:pic>
        <p:nvPicPr>
          <p:cNvPr id="15" name="Picture 14" descr="OCAC Training Centre">
            <a:extLst>
              <a:ext uri="{FF2B5EF4-FFF2-40B4-BE49-F238E27FC236}">
                <a16:creationId xmlns:a16="http://schemas.microsoft.com/office/drawing/2014/main" id="{20262D9C-7A61-1199-96C6-DDF039C940E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017" b="32356"/>
          <a:stretch>
            <a:fillRect/>
          </a:stretch>
        </p:blipFill>
        <p:spPr>
          <a:xfrm>
            <a:off x="167269" y="1035897"/>
            <a:ext cx="1323203" cy="41779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231B9EE-1BA3-3BB7-E3FF-4ED0CF96B985}"/>
              </a:ext>
            </a:extLst>
          </p:cNvPr>
          <p:cNvSpPr txBox="1"/>
          <p:nvPr/>
        </p:nvSpPr>
        <p:spPr>
          <a:xfrm>
            <a:off x="1719398" y="1035897"/>
            <a:ext cx="589788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7030A0"/>
                </a:solidFill>
              </a:rPr>
              <a:t>INTRODUCTION &amp; PROBLEM STATEMENT</a:t>
            </a:r>
            <a:endParaRPr lang="en-IN" sz="2400" dirty="0">
              <a:solidFill>
                <a:srgbClr val="7030A0"/>
              </a:solidFill>
            </a:endParaRPr>
          </a:p>
          <a:p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E3A7A5B-0A39-F11A-5B1E-C8D2592D95DF}"/>
              </a:ext>
            </a:extLst>
          </p:cNvPr>
          <p:cNvSpPr txBox="1"/>
          <p:nvPr/>
        </p:nvSpPr>
        <p:spPr>
          <a:xfrm>
            <a:off x="694944" y="2259210"/>
            <a:ext cx="39410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Manual Challenge: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Calculation Errors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Lack of Transparency &amp; Long Queues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 Difficult Revenue Tracking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 Data Security &amp; Loss Risks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F7B9803-486E-2F2B-9783-57A5AF0CE4AF}"/>
              </a:ext>
            </a:extLst>
          </p:cNvPr>
          <p:cNvSpPr txBox="1"/>
          <p:nvPr/>
        </p:nvSpPr>
        <p:spPr>
          <a:xfrm>
            <a:off x="4587240" y="2259210"/>
            <a:ext cx="369417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The Proposed Solution: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Three-Tier Role-Based Access (RBAC)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Automated Fee Logic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Dual-Mode Payment 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Real-Time Collection Reports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Digital Receipt &amp; Feedback Management</a:t>
            </a:r>
          </a:p>
          <a:p>
            <a:endParaRPr lang="en-IN" dirty="0"/>
          </a:p>
        </p:txBody>
      </p:sp>
      <p:sp>
        <p:nvSpPr>
          <p:cNvPr id="23" name="object 10">
            <a:extLst>
              <a:ext uri="{FF2B5EF4-FFF2-40B4-BE49-F238E27FC236}">
                <a16:creationId xmlns:a16="http://schemas.microsoft.com/office/drawing/2014/main" id="{69673009-5221-1008-C68D-52550E484370}"/>
              </a:ext>
            </a:extLst>
          </p:cNvPr>
          <p:cNvSpPr txBox="1"/>
          <p:nvPr/>
        </p:nvSpPr>
        <p:spPr>
          <a:xfrm>
            <a:off x="7946135" y="2259210"/>
            <a:ext cx="3697756" cy="2508379"/>
          </a:xfrm>
          <a:prstGeom prst="rect">
            <a:avLst/>
          </a:prstGeom>
          <a:ln w="7620">
            <a:solidFill>
              <a:schemeClr val="bg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000" b="1" spc="-110" dirty="0">
                <a:solidFill>
                  <a:srgbClr val="7CA554"/>
                </a:solidFill>
                <a:latin typeface="Arial"/>
                <a:cs typeface="Arial"/>
              </a:rPr>
              <a:t>Technology</a:t>
            </a:r>
            <a:r>
              <a:rPr sz="2000" b="1" spc="-10" dirty="0">
                <a:solidFill>
                  <a:srgbClr val="7CA554"/>
                </a:solidFill>
                <a:latin typeface="Arial"/>
                <a:cs typeface="Arial"/>
              </a:rPr>
              <a:t> </a:t>
            </a:r>
            <a:r>
              <a:rPr sz="2000" b="1" spc="-70" dirty="0">
                <a:solidFill>
                  <a:srgbClr val="7CA554"/>
                </a:solidFill>
                <a:latin typeface="Arial"/>
                <a:cs typeface="Arial"/>
              </a:rPr>
              <a:t>stack</a:t>
            </a:r>
            <a:r>
              <a:rPr sz="2000" b="1" spc="-10" dirty="0">
                <a:solidFill>
                  <a:srgbClr val="7CA554"/>
                </a:solidFill>
                <a:latin typeface="Arial"/>
                <a:cs typeface="Arial"/>
              </a:rPr>
              <a:t> here</a:t>
            </a:r>
            <a:r>
              <a:rPr spc="-10" dirty="0">
                <a:latin typeface="Tahoma"/>
                <a:cs typeface="Tahoma"/>
              </a:rPr>
              <a:t>:</a:t>
            </a:r>
            <a:endParaRPr lang="en-IN" spc="-1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lang="en-IN" sz="1300" spc="-1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lang="en-IN" sz="1300" spc="-1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lang="en-IN" sz="1300" spc="-1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lang="en-IN" sz="1300" spc="-1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lang="en-IN" sz="1300" spc="-1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lang="en-IN" sz="1300" spc="-1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lang="en-IN" sz="1300" spc="-1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lang="en-IN" sz="1300" spc="-1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lang="en-IN" sz="1300" spc="-1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lang="en-IN" sz="1300" spc="-1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300" dirty="0">
              <a:latin typeface="Tahoma"/>
              <a:cs typeface="Tahoma"/>
            </a:endParaRPr>
          </a:p>
        </p:txBody>
      </p:sp>
      <p:pic>
        <p:nvPicPr>
          <p:cNvPr id="24" name="Picture 23" descr="First hands-on experience with Tkinter (Python's UI library)">
            <a:extLst>
              <a:ext uri="{FF2B5EF4-FFF2-40B4-BE49-F238E27FC236}">
                <a16:creationId xmlns:a16="http://schemas.microsoft.com/office/drawing/2014/main" id="{E35084C2-884C-893C-F31B-00C425B2AB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9394" y="3124063"/>
            <a:ext cx="1687915" cy="1075523"/>
          </a:xfrm>
          <a:prstGeom prst="rect">
            <a:avLst/>
          </a:prstGeom>
        </p:spPr>
      </p:pic>
      <p:pic>
        <p:nvPicPr>
          <p:cNvPr id="25" name="Picture 24" descr="MySQL Logo .PNG and .AI, .EPS, .CDR, .PDF, .SVG - iconLogoVector">
            <a:extLst>
              <a:ext uri="{FF2B5EF4-FFF2-40B4-BE49-F238E27FC236}">
                <a16:creationId xmlns:a16="http://schemas.microsoft.com/office/drawing/2014/main" id="{2EA5F8E8-1489-5568-FEBB-0E06DBBAA2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47471" y="2889788"/>
            <a:ext cx="1544072" cy="1544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635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OCAC Training Centre">
            <a:extLst>
              <a:ext uri="{FF2B5EF4-FFF2-40B4-BE49-F238E27FC236}">
                <a16:creationId xmlns:a16="http://schemas.microsoft.com/office/drawing/2014/main" id="{004F5E6F-7258-DA74-DD83-B60397CB8A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017" b="32356"/>
          <a:stretch>
            <a:fillRect/>
          </a:stretch>
        </p:blipFill>
        <p:spPr>
          <a:xfrm>
            <a:off x="0" y="712731"/>
            <a:ext cx="1170433" cy="369560"/>
          </a:xfrm>
          <a:prstGeom prst="rect">
            <a:avLst/>
          </a:prstGeom>
        </p:spPr>
      </p:pic>
      <p:pic>
        <p:nvPicPr>
          <p:cNvPr id="5" name="Picture 4" descr="OCAC Recruitment 2020 Apply Online Job Vacancies 21 December 2020">
            <a:extLst>
              <a:ext uri="{FF2B5EF4-FFF2-40B4-BE49-F238E27FC236}">
                <a16:creationId xmlns:a16="http://schemas.microsoft.com/office/drawing/2014/main" id="{2D666B57-BFED-31FD-6130-9E26B8A306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132" y="66400"/>
            <a:ext cx="646331" cy="64633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758313A-4351-1446-69A0-91F45AC9F6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7528" y="338226"/>
            <a:ext cx="6592869" cy="618154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9054CB6-CF92-00DF-E4EB-74E9092CD400}"/>
              </a:ext>
            </a:extLst>
          </p:cNvPr>
          <p:cNvSpPr txBox="1"/>
          <p:nvPr/>
        </p:nvSpPr>
        <p:spPr>
          <a:xfrm>
            <a:off x="1170433" y="712731"/>
            <a:ext cx="413776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 </a:t>
            </a:r>
            <a:r>
              <a:rPr lang="en-IN" sz="2000" b="1" dirty="0">
                <a:solidFill>
                  <a:srgbClr val="7030A0"/>
                </a:solidFill>
              </a:rPr>
              <a:t>Three-Tier User Architecture (Roles):</a:t>
            </a:r>
            <a:endParaRPr lang="en-IN" sz="2000" dirty="0">
              <a:solidFill>
                <a:srgbClr val="7030A0"/>
              </a:solidFill>
            </a:endParaRP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676F8D-BCB6-3C5A-6D2B-312185B539B8}"/>
              </a:ext>
            </a:extLst>
          </p:cNvPr>
          <p:cNvSpPr txBox="1"/>
          <p:nvPr/>
        </p:nvSpPr>
        <p:spPr>
          <a:xfrm>
            <a:off x="420625" y="1418528"/>
            <a:ext cx="259689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IN" b="1" dirty="0"/>
              <a:t>Admin (Superuser)</a:t>
            </a:r>
            <a:r>
              <a:rPr lang="en-IN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Authorization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Verification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Monitor and control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Review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Rewrite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B722DD-1E97-E5AE-EDF8-1F1F8B079AD7}"/>
              </a:ext>
            </a:extLst>
          </p:cNvPr>
          <p:cNvSpPr txBox="1"/>
          <p:nvPr/>
        </p:nvSpPr>
        <p:spPr>
          <a:xfrm>
            <a:off x="2862072" y="1418528"/>
            <a:ext cx="302666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2. </a:t>
            </a:r>
            <a:r>
              <a:rPr lang="en-IN" b="1" dirty="0" err="1"/>
              <a:t>Counselor</a:t>
            </a:r>
            <a:r>
              <a:rPr lang="en-IN" b="1" dirty="0"/>
              <a:t> (Operator):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Record maintenance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Payment maintenance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Filters and views </a:t>
            </a:r>
          </a:p>
          <a:p>
            <a:br>
              <a:rPr lang="en-IN" dirty="0"/>
            </a:br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914127-25F2-4E57-CAAD-8B59D8FD0202}"/>
              </a:ext>
            </a:extLst>
          </p:cNvPr>
          <p:cNvSpPr txBox="1"/>
          <p:nvPr/>
        </p:nvSpPr>
        <p:spPr>
          <a:xfrm>
            <a:off x="1312056" y="3239541"/>
            <a:ext cx="361188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3. Student (End-User):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Monitors real-time fee summary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Views and exports payment history &amp; receipt logs.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Submits feedback/grievances to the admin.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8252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741 Thank You Slide Royalty-Free Images, Stock Photos &amp; Pictures |  Shutterstock">
            <a:extLst>
              <a:ext uri="{FF2B5EF4-FFF2-40B4-BE49-F238E27FC236}">
                <a16:creationId xmlns:a16="http://schemas.microsoft.com/office/drawing/2014/main" id="{0A1C3E50-7C4B-BA72-93C7-6010343568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82" t="14242" r="-100" b="13555"/>
          <a:stretch>
            <a:fillRect/>
          </a:stretch>
        </p:blipFill>
        <p:spPr>
          <a:xfrm>
            <a:off x="268716" y="210312"/>
            <a:ext cx="11654567" cy="6437376"/>
          </a:xfrm>
          <a:prstGeom prst="rect">
            <a:avLst/>
          </a:prstGeom>
        </p:spPr>
      </p:pic>
      <p:pic>
        <p:nvPicPr>
          <p:cNvPr id="8" name="Picture 7" descr="OCAC Training Centre">
            <a:extLst>
              <a:ext uri="{FF2B5EF4-FFF2-40B4-BE49-F238E27FC236}">
                <a16:creationId xmlns:a16="http://schemas.microsoft.com/office/drawing/2014/main" id="{2E515090-D226-F4A8-C395-9AD1C7CCF6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017" b="32356"/>
          <a:stretch>
            <a:fillRect/>
          </a:stretch>
        </p:blipFill>
        <p:spPr>
          <a:xfrm>
            <a:off x="545818" y="1280160"/>
            <a:ext cx="844405" cy="266618"/>
          </a:xfrm>
          <a:prstGeom prst="rect">
            <a:avLst/>
          </a:prstGeom>
        </p:spPr>
      </p:pic>
      <p:pic>
        <p:nvPicPr>
          <p:cNvPr id="9" name="Picture 8" descr="OCAC Recruitment 2020 Apply Online Job Vacancies 21 December 2020">
            <a:extLst>
              <a:ext uri="{FF2B5EF4-FFF2-40B4-BE49-F238E27FC236}">
                <a16:creationId xmlns:a16="http://schemas.microsoft.com/office/drawing/2014/main" id="{92F62A1E-A452-C2ED-19B7-CB8A70123F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817" y="301752"/>
            <a:ext cx="978408" cy="978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3606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292</Words>
  <Application>Microsoft Office PowerPoint</Application>
  <PresentationFormat>Widescreen</PresentationFormat>
  <Paragraphs>57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Bahnschrift SemiBold</vt:lpstr>
      <vt:lpstr>Calibri</vt:lpstr>
      <vt:lpstr>Calibri Light</vt:lpstr>
      <vt:lpstr>Tahoma</vt:lpstr>
      <vt:lpstr>ui-sans-serif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Akash kumar Swain</dc:creator>
  <cp:lastModifiedBy>Asit Kumar Raut</cp:lastModifiedBy>
  <cp:revision>4</cp:revision>
  <dcterms:created xsi:type="dcterms:W3CDTF">2026-06-27T12:53:51Z</dcterms:created>
  <dcterms:modified xsi:type="dcterms:W3CDTF">2026-06-28T06:32:09Z</dcterms:modified>
</cp:coreProperties>
</file>